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Plus Jakarta Sans" panose="020B0604020202020204" charset="0"/>
      <p:regular r:id="rId15"/>
      <p:bold r:id="rId16"/>
      <p:italic r:id="rId17"/>
      <p:boldItalic r:id="rId18"/>
    </p:embeddedFont>
    <p:embeddedFont>
      <p:font typeface="Space Grotesk" panose="020B0604020202020204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D77BA9C-08FA-4F9E-979F-6DACD028BCAB}">
  <a:tblStyle styleId="{1D77BA9C-08FA-4F9E-979F-6DACD028BC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4062263"/>
            <a:ext cx="585207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4062263"/>
            <a:ext cx="585207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71270" y="0"/>
            <a:ext cx="512058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609600" y="1900237"/>
            <a:ext cx="7315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0" u="none" strike="noStrike" cap="none">
                <a:solidFill>
                  <a:srgbClr val="FB923C"/>
                </a:solidFill>
                <a:latin typeface="Space Grotesk"/>
                <a:ea typeface="Space Grotesk"/>
                <a:cs typeface="Space Grotesk"/>
                <a:sym typeface="Space Grotesk"/>
              </a:rPr>
              <a:t>ISFT 204 • TECNICATURA EN DESARROLLO DE SOFTWARE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09600" y="2376487"/>
            <a:ext cx="7680842" cy="5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Mapa de Sabores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09600" y="3132683"/>
            <a:ext cx="5429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Descubrimiento gastronómico interactivo mediante grafos 2D </a:t>
            </a:r>
            <a:r>
              <a:rPr lang="en-US" sz="165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asistido por</a:t>
            </a:r>
            <a:r>
              <a:rPr lang="en-US" sz="165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IA.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09600" y="4300388"/>
            <a:ext cx="20597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Alumno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09600" y="4509938"/>
            <a:ext cx="2059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Diego Guaraz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600325" y="4300388"/>
            <a:ext cx="16191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Docente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2600325" y="4509950"/>
            <a:ext cx="2204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Prof. Adriana Morichetti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09600" y="2098357"/>
            <a:ext cx="73152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u="none" strike="noStrike" cap="none">
                <a:solidFill>
                  <a:srgbClr val="FB923C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DESARROLLO DE S</a:t>
            </a:r>
            <a:r>
              <a:rPr lang="en-US" sz="1450" b="1">
                <a:solidFill>
                  <a:srgbClr val="FB923C"/>
                </a:solidFill>
                <a:latin typeface="Space Grotesk"/>
                <a:ea typeface="Space Grotesk"/>
                <a:cs typeface="Space Grotesk"/>
                <a:sym typeface="Space Grotesk"/>
              </a:rPr>
              <a:t>ISTEMAS WEB (2026)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609600" y="2775495"/>
            <a:ext cx="5334000" cy="2286000"/>
          </a:xfrm>
          <a:prstGeom prst="roundRect">
            <a:avLst>
              <a:gd name="adj" fmla="val 5833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6248400" y="2775495"/>
            <a:ext cx="5334000" cy="2286000"/>
          </a:xfrm>
          <a:prstGeom prst="roundRect">
            <a:avLst>
              <a:gd name="adj" fmla="val 5833"/>
            </a:avLst>
          </a:prstGeom>
          <a:solidFill>
            <a:srgbClr val="FFF7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309934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53200" y="309934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609600" y="5334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EA580C"/>
                </a:solidFill>
                <a:latin typeface="Space Grotesk"/>
                <a:ea typeface="Space Grotesk"/>
                <a:cs typeface="Space Grotesk"/>
                <a:sym typeface="Space Grotesk"/>
              </a:rPr>
              <a:t>MARIDAJE</a:t>
            </a:r>
            <a:r>
              <a:rPr lang="en-US" sz="1050" b="1" i="0" u="none" strike="noStrike" cap="none">
                <a:solidFill>
                  <a:srgbClr val="EA580C"/>
                </a:solidFill>
                <a:latin typeface="Space Grotesk"/>
                <a:ea typeface="Space Grotesk"/>
                <a:cs typeface="Space Grotesk"/>
                <a:sym typeface="Space Grotesk"/>
              </a:rPr>
              <a:t> CULINARIO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09600" y="781050"/>
            <a:ext cx="115824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El Problema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14400" y="3499395"/>
            <a:ext cx="5905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Recursos estáticos y limitados: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553200" y="3499395"/>
            <a:ext cx="5638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Exploración interactiva y razonada: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228725" y="3080295"/>
            <a:ext cx="29628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Forma </a:t>
            </a:r>
            <a:r>
              <a:rPr lang="en-US" sz="16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Tradicional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14400" y="3870870"/>
            <a:ext cx="5905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Listas cerradas y memorización de recetas fijas.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14400" y="4204245"/>
            <a:ext cx="5905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Carencia de plataformas exploratorias en español.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14400" y="4537620"/>
            <a:ext cx="5905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Omisión total de combinaciones antagónicas.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924675" y="3080295"/>
            <a:ext cx="3125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Propuesta del Proyecto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553200" y="3870870"/>
            <a:ext cx="5638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Grafo visual 2D bidireccional navegable a 60 FPS.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553200" y="4204245"/>
            <a:ext cx="5638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Mapeo explícito de mejores y peores afinidades.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553200" y="4537620"/>
            <a:ext cx="5638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Explicaciones en lenguaje natural mediante LLMs.</a:t>
            </a:r>
            <a:endParaRPr/>
          </a:p>
        </p:txBody>
      </p:sp>
      <p:grpSp>
        <p:nvGrpSpPr>
          <p:cNvPr id="115" name="Google Shape;115;p14"/>
          <p:cNvGrpSpPr/>
          <p:nvPr/>
        </p:nvGrpSpPr>
        <p:grpSpPr>
          <a:xfrm>
            <a:off x="609600" y="1428750"/>
            <a:ext cx="4202582" cy="952500"/>
            <a:chOff x="0" y="0"/>
            <a:chExt cx="10972800" cy="952500"/>
          </a:xfrm>
        </p:grpSpPr>
        <p:sp>
          <p:nvSpPr>
            <p:cNvPr id="116" name="Google Shape;116;p14"/>
            <p:cNvSpPr/>
            <p:nvPr/>
          </p:nvSpPr>
          <p:spPr>
            <a:xfrm>
              <a:off x="0" y="0"/>
              <a:ext cx="109728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4"/>
            <p:cNvSpPr txBox="1"/>
            <p:nvPr/>
          </p:nvSpPr>
          <p:spPr>
            <a:xfrm>
              <a:off x="0" y="0"/>
              <a:ext cx="10972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Además de la exploración empírica, a la hora de buscar maridajes entre sabores existían pocas opciones:</a:t>
              </a:r>
              <a:endParaRPr sz="1600" b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609600" y="2951708"/>
            <a:ext cx="2600325" cy="1895475"/>
          </a:xfrm>
          <a:prstGeom prst="roundRect">
            <a:avLst>
              <a:gd name="adj" fmla="val 603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3400425" y="2951708"/>
            <a:ext cx="2600325" cy="1895475"/>
          </a:xfrm>
          <a:prstGeom prst="roundRect">
            <a:avLst>
              <a:gd name="adj" fmla="val 603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6191250" y="2951708"/>
            <a:ext cx="2600325" cy="1895475"/>
          </a:xfrm>
          <a:prstGeom prst="roundRect">
            <a:avLst>
              <a:gd name="adj" fmla="val 603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8982075" y="2951708"/>
            <a:ext cx="2600325" cy="1895475"/>
          </a:xfrm>
          <a:prstGeom prst="roundRect">
            <a:avLst>
              <a:gd name="adj" fmla="val 603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3218408"/>
            <a:ext cx="2190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67125" y="3218408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57950" y="3227933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48775" y="3218408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A580C"/>
                </a:solidFill>
                <a:latin typeface="Space Grotesk"/>
                <a:ea typeface="Space Grotesk"/>
                <a:cs typeface="Space Grotesk"/>
                <a:sym typeface="Space Grotesk"/>
              </a:rPr>
              <a:t>METAS TÉCNICAS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09600" y="781050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Objetivos Específicos del Sistema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76300" y="3618458"/>
            <a:ext cx="271283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Esquema Optimizado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76300" y="3923258"/>
            <a:ext cx="216217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Consultas bidireccionales en PostgreSQL.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3667125" y="3618458"/>
            <a:ext cx="271283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Pipeline de Datos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3667125" y="3923258"/>
            <a:ext cx="216217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Síntesis asistida por IA con curación manual.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6457950" y="3561308"/>
            <a:ext cx="271283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Sinergia N×N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6457950" y="3866108"/>
            <a:ext cx="216217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Cálculo determinístico en FastAPI.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9248775" y="3618458"/>
            <a:ext cx="271283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Frontend Fluido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9248775" y="3923258"/>
            <a:ext cx="216217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Tres vistas reactivas con Canvas interactivo.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609600" y="2580233"/>
            <a:ext cx="3505200" cy="2638425"/>
          </a:xfrm>
          <a:prstGeom prst="roundRect">
            <a:avLst>
              <a:gd name="adj" fmla="val 5054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4343400" y="2580233"/>
            <a:ext cx="3505200" cy="2638425"/>
          </a:xfrm>
          <a:prstGeom prst="roundRect">
            <a:avLst>
              <a:gd name="adj" fmla="val 5054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8077200" y="2580233"/>
            <a:ext cx="3505200" cy="2638425"/>
          </a:xfrm>
          <a:prstGeom prst="roundRect">
            <a:avLst>
              <a:gd name="adj" fmla="val 5054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288503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8200" y="288503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2000" y="288503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38225" y="3008858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72025" y="3008858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20112" y="3008858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A580C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EXPERIENCIA DE USUARIO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09600" y="781050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Las Tres Vistas de la Aplicación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14400" y="3532733"/>
            <a:ext cx="38004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Exploración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14400" y="3885158"/>
            <a:ext cx="36195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Grafo interactivo 2D dinámico.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914400" y="4256633"/>
            <a:ext cx="36195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Filtros de afinidad y slider de nodos.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4648200" y="3532733"/>
            <a:ext cx="38004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Ficha de Detalle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4648200" y="3885158"/>
            <a:ext cx="36195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Perfil sensorial y rankings.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4648200" y="4256633"/>
            <a:ext cx="29908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Comparativa de perfiles frente a frente.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8382000" y="3532733"/>
            <a:ext cx="38004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Laboratorio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8382000" y="3885158"/>
            <a:ext cx="29908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Constructor multivariable interactivo.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8382000" y="4475708"/>
            <a:ext cx="29908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Sinergia grupal y sugerencia de reemplazo.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/>
          <p:nvPr/>
        </p:nvSpPr>
        <p:spPr>
          <a:xfrm>
            <a:off x="4359250" y="2770678"/>
            <a:ext cx="3479700" cy="2219400"/>
          </a:xfrm>
          <a:prstGeom prst="roundRect">
            <a:avLst>
              <a:gd name="adj" fmla="val 6866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609600" y="2770733"/>
            <a:ext cx="3479750" cy="2219325"/>
          </a:xfrm>
          <a:prstGeom prst="roundRect">
            <a:avLst>
              <a:gd name="adj" fmla="val 6866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8102500" y="2770733"/>
            <a:ext cx="3479750" cy="2219325"/>
          </a:xfrm>
          <a:prstGeom prst="roundRect">
            <a:avLst>
              <a:gd name="adj" fmla="val 6866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A580C"/>
                </a:solidFill>
                <a:latin typeface="Space Grotesk"/>
                <a:ea typeface="Space Grotesk"/>
                <a:cs typeface="Space Grotesk"/>
                <a:sym typeface="Space Grotesk"/>
              </a:rPr>
              <a:t>BASE DE CONOCIMIENTO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09600" y="781050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Volumen Estimado para el MVP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03256" y="3113633"/>
            <a:ext cx="3492437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b="1" i="0" u="none" strike="noStrike" cap="none">
                <a:solidFill>
                  <a:srgbClr val="EA580C"/>
                </a:solidFill>
                <a:latin typeface="Space Grotesk"/>
                <a:ea typeface="Space Grotesk"/>
                <a:cs typeface="Space Grotesk"/>
                <a:sym typeface="Space Grotesk"/>
              </a:rPr>
              <a:t>250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03256" y="3913733"/>
            <a:ext cx="349243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Ingredientes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03256" y="4209008"/>
            <a:ext cx="349243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Nodos gastronómicos categorizados.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4352881" y="3113620"/>
            <a:ext cx="34923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b="1" i="0" u="none" strike="noStrike" cap="non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1.500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4352881" y="3913720"/>
            <a:ext cx="3492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Afinidades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4352881" y="4208995"/>
            <a:ext cx="3492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Pares puntuados con signo y peso.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8096156" y="3113633"/>
            <a:ext cx="34923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6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8096156" y="3913733"/>
            <a:ext cx="349243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Ejes Sensoriales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8096156" y="4209008"/>
            <a:ext cx="3492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Dulce, ácido, salado, amargo,</a:t>
            </a:r>
            <a:endParaRPr sz="135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umami, aromático</a:t>
            </a:r>
            <a:endParaRPr sz="135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/>
          <p:nvPr/>
        </p:nvSpPr>
        <p:spPr>
          <a:xfrm>
            <a:off x="609600" y="2661195"/>
            <a:ext cx="5619750" cy="2476500"/>
          </a:xfrm>
          <a:prstGeom prst="roundRect">
            <a:avLst>
              <a:gd name="adj" fmla="val 5384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914400" y="3756570"/>
            <a:ext cx="5010150" cy="447675"/>
          </a:xfrm>
          <a:prstGeom prst="roundRect">
            <a:avLst>
              <a:gd name="adj" fmla="val 17021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6572250" y="2823120"/>
            <a:ext cx="5010150" cy="981075"/>
          </a:xfrm>
          <a:prstGeom prst="roundRect">
            <a:avLst>
              <a:gd name="adj" fmla="val 11650"/>
            </a:avLst>
          </a:prstGeom>
          <a:solidFill>
            <a:srgbClr val="F0FD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6572250" y="3994695"/>
            <a:ext cx="5010150" cy="981075"/>
          </a:xfrm>
          <a:prstGeom prst="roundRect">
            <a:avLst>
              <a:gd name="adj" fmla="val 11650"/>
            </a:avLst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A580C"/>
                </a:solidFill>
                <a:latin typeface="Space Grotesk"/>
                <a:ea typeface="Space Grotesk"/>
                <a:cs typeface="Space Grotesk"/>
                <a:sym typeface="Space Grotesk"/>
              </a:rPr>
              <a:t>DISEÑO DE SISTEMAS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609600" y="781050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Decisión Clave: PostgreSQL vs Neo4j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914400" y="2965995"/>
            <a:ext cx="657582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Modelado en PostgreSQL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914400" y="3385095"/>
            <a:ext cx="6262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Restricción ordenada eficiente: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1066800" y="3870870"/>
            <a:ext cx="4800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ingredient_a_id &lt; ingredient_b_id</a:t>
            </a:r>
            <a:endParaRPr b="1"/>
          </a:p>
        </p:txBody>
      </p:sp>
      <p:sp>
        <p:nvSpPr>
          <p:cNvPr id="195" name="Google Shape;195;p18"/>
          <p:cNvSpPr txBox="1"/>
          <p:nvPr/>
        </p:nvSpPr>
        <p:spPr>
          <a:xfrm>
            <a:off x="914400" y="4394745"/>
            <a:ext cx="5105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Consultas de vecinos en menos de 10ms sin recorridos recursivos.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6800850" y="3051720"/>
            <a:ext cx="5391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Bajo Consumo de Memoria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6800850" y="3356520"/>
            <a:ext cx="53911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Evita el costo operativo de un motor dedicado.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6800850" y="4223295"/>
            <a:ext cx="5391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Stack Tecnológico Unificado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6800850" y="4528095"/>
            <a:ext cx="53911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FastAPI + SQLAlchemy Core + Alembic.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/>
          <p:nvPr/>
        </p:nvSpPr>
        <p:spPr>
          <a:xfrm>
            <a:off x="609600" y="2265908"/>
            <a:ext cx="5846415" cy="962025"/>
          </a:xfrm>
          <a:prstGeom prst="roundRect">
            <a:avLst>
              <a:gd name="adj" fmla="val 11881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609600" y="3418433"/>
            <a:ext cx="5846415" cy="962025"/>
          </a:xfrm>
          <a:prstGeom prst="roundRect">
            <a:avLst>
              <a:gd name="adj" fmla="val 11881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609600" y="4570958"/>
            <a:ext cx="5846415" cy="962025"/>
          </a:xfrm>
          <a:prstGeom prst="roundRect">
            <a:avLst>
              <a:gd name="adj" fmla="val 11881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98915" y="2089695"/>
            <a:ext cx="4783484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A580C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CALIDAD DE DATOS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609600" y="781050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Pipeline Offline y Curación de Sabores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838200" y="2494508"/>
            <a:ext cx="707334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Generación Estructurada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838200" y="2780258"/>
            <a:ext cx="673651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Respuestas en JSON estricto mediante LLM.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838200" y="3647033"/>
            <a:ext cx="707334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Matriz de Incompatibilidad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838200" y="3932783"/>
            <a:ext cx="673651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Detección automática de valores anómalos.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838200" y="4799558"/>
            <a:ext cx="707334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Cola de Revisión Manual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838200" y="5085308"/>
            <a:ext cx="673651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Herramienta CLI para decisión caso por caso.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"/>
          <p:cNvSpPr/>
          <p:nvPr/>
        </p:nvSpPr>
        <p:spPr>
          <a:xfrm>
            <a:off x="609600" y="3137445"/>
            <a:ext cx="2386012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3471862" y="3137445"/>
            <a:ext cx="2386012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6334125" y="3137445"/>
            <a:ext cx="2386012" cy="1524000"/>
          </a:xfrm>
          <a:prstGeom prst="roundRect">
            <a:avLst>
              <a:gd name="adj" fmla="val 7500"/>
            </a:avLst>
          </a:prstGeom>
          <a:solidFill>
            <a:srgbClr val="FFF7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9196387" y="3137445"/>
            <a:ext cx="2386012" cy="1524000"/>
          </a:xfrm>
          <a:prstGeom prst="roundRect">
            <a:avLst>
              <a:gd name="adj" fmla="val 7500"/>
            </a:avLst>
          </a:prstGeom>
          <a:solidFill>
            <a:srgbClr val="F0FD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48012" y="380419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10275" y="380419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72537" y="3804195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0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A580C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RESILIENCIA DE SERVICIOS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609600" y="781050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Flujo de Asistencia de IA Online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876300" y="3404145"/>
            <a:ext cx="231576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A58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PASO 01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876300" y="3651795"/>
            <a:ext cx="243155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Petición Usuario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876300" y="3956595"/>
            <a:ext cx="1947862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Solicitud explícita de explicación.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3738562" y="3404145"/>
            <a:ext cx="231576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PASO 02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3738562" y="3651795"/>
            <a:ext cx="243155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Adapter LLM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3738562" y="3956595"/>
            <a:ext cx="1947862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Llamada a Gemini u OpenAI.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6600825" y="3404145"/>
            <a:ext cx="231576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A58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6600825" y="3651795"/>
            <a:ext cx="243155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Timeout 3s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6600825" y="3956595"/>
            <a:ext cx="1947862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Límite estricto de espera activa.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9463087" y="3404145"/>
            <a:ext cx="231576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GARANTÍA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9463087" y="3651795"/>
            <a:ext cx="243155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Fallback Local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9463087" y="3956595"/>
            <a:ext cx="1947862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Respaldo con texto pre-generado.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"/>
          <p:cNvSpPr/>
          <p:nvPr/>
        </p:nvSpPr>
        <p:spPr>
          <a:xfrm>
            <a:off x="609600" y="3018383"/>
            <a:ext cx="3505200" cy="1762125"/>
          </a:xfrm>
          <a:prstGeom prst="roundRect">
            <a:avLst>
              <a:gd name="adj" fmla="val 756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4343400" y="3018383"/>
            <a:ext cx="3505200" cy="1762125"/>
          </a:xfrm>
          <a:prstGeom prst="roundRect">
            <a:avLst>
              <a:gd name="adj" fmla="val 756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8077200" y="3018383"/>
            <a:ext cx="3505200" cy="1762125"/>
          </a:xfrm>
          <a:prstGeom prst="roundRect">
            <a:avLst>
              <a:gd name="adj" fmla="val 756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3323183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8200" y="3323183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2000" y="3323183"/>
            <a:ext cx="2190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A580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PROTECCIÓN Y PRIVACIDAD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609600" y="781050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Seguridad y Control de Acceso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914400" y="3723233"/>
            <a:ext cx="38004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Autenticación JWT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914400" y="4037558"/>
            <a:ext cx="36195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Sesión única con validez de 7 días.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4648200" y="3723233"/>
            <a:ext cx="38004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Modelo Binario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4648200" y="4037558"/>
            <a:ext cx="29908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Exploración pública y favoritos privados.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8382000" y="3723233"/>
            <a:ext cx="38004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Hash Argon2id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8382000" y="4037558"/>
            <a:ext cx="29908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 almacenamiento en texto plano ni logs.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"/>
          <p:cNvSpPr txBox="1"/>
          <p:nvPr/>
        </p:nvSpPr>
        <p:spPr>
          <a:xfrm>
            <a:off x="609600" y="5334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A580C"/>
                </a:solidFill>
                <a:latin typeface="Space Grotesk"/>
                <a:ea typeface="Space Grotesk"/>
                <a:cs typeface="Space Grotesk"/>
                <a:sym typeface="Space Grotesk"/>
              </a:rPr>
              <a:t>GESTIÓN DE PROYECTO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609600" y="781050"/>
            <a:ext cx="115824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Matriz de Riesgos Identificados</a:t>
            </a:r>
            <a:endParaRPr/>
          </a:p>
        </p:txBody>
      </p:sp>
      <p:graphicFrame>
        <p:nvGraphicFramePr>
          <p:cNvPr id="265" name="Google Shape;265;p22"/>
          <p:cNvGraphicFramePr/>
          <p:nvPr>
            <p:extLst>
              <p:ext uri="{D42A27DB-BD31-4B8C-83A1-F6EECF244321}">
                <p14:modId xmlns:p14="http://schemas.microsoft.com/office/powerpoint/2010/main" val="2152116273"/>
              </p:ext>
            </p:extLst>
          </p:nvPr>
        </p:nvGraphicFramePr>
        <p:xfrm>
          <a:off x="609600" y="2537374"/>
          <a:ext cx="10972800" cy="2686000"/>
        </p:xfrm>
        <a:graphic>
          <a:graphicData uri="http://schemas.openxmlformats.org/drawingml/2006/table">
            <a:tbl>
              <a:tblPr>
                <a:noFill/>
                <a:tableStyleId>{1D77BA9C-08FA-4F9E-979F-6DACD028BCAB}</a:tableStyleId>
              </a:tblPr>
              <a:tblGrid>
                <a:gridCol w="437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dirty="0">
                          <a:solidFill>
                            <a:srgbClr val="0F172A"/>
                          </a:solidFill>
                          <a:highlight>
                            <a:srgbClr val="F1F5F9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Riesgo </a:t>
                      </a:r>
                      <a:r>
                        <a:rPr lang="en-US" sz="1350" b="1" i="0" dirty="0" err="1">
                          <a:solidFill>
                            <a:srgbClr val="0F172A"/>
                          </a:solidFill>
                          <a:highlight>
                            <a:srgbClr val="F1F5F9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Detectado</a:t>
                      </a:r>
                      <a:endParaRPr sz="1350" b="1" i="0" dirty="0">
                        <a:solidFill>
                          <a:srgbClr val="0F172A"/>
                        </a:solidFill>
                        <a:highlight>
                          <a:srgbClr val="F1F5F9"/>
                        </a:highlight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190500" marR="63500" marT="25400" marB="254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>
                          <a:solidFill>
                            <a:srgbClr val="0F172A"/>
                          </a:solidFill>
                          <a:highlight>
                            <a:srgbClr val="F1F5F9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Impacto</a:t>
                      </a:r>
                      <a:endParaRPr sz="1350" b="1" i="0">
                        <a:solidFill>
                          <a:srgbClr val="0F172A"/>
                        </a:solidFill>
                        <a:highlight>
                          <a:srgbClr val="F1F5F9"/>
                        </a:highlight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63500" marR="63500" marT="25400" marB="254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>
                          <a:solidFill>
                            <a:srgbClr val="0F172A"/>
                          </a:solidFill>
                          <a:highlight>
                            <a:srgbClr val="F1F5F9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Estrategia de Mitigación</a:t>
                      </a:r>
                      <a:endParaRPr sz="1350" b="1" i="0">
                        <a:solidFill>
                          <a:srgbClr val="0F172A"/>
                        </a:solidFill>
                        <a:highlight>
                          <a:srgbClr val="F1F5F9"/>
                        </a:highlight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63500" marR="63500" marT="25400" marB="254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dirty="0" err="1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Saturación</a:t>
                      </a:r>
                      <a:r>
                        <a:rPr lang="en-US" sz="1350" b="1" i="0" dirty="0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visual </a:t>
                      </a:r>
                      <a:r>
                        <a:rPr lang="en-US" sz="1350" b="1" i="0" dirty="0" err="1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en</a:t>
                      </a:r>
                      <a:r>
                        <a:rPr lang="en-US" sz="1350" b="1" i="0" dirty="0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el </a:t>
                      </a:r>
                      <a:r>
                        <a:rPr lang="en-US" sz="1350" b="1" i="0" dirty="0" err="1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grafo</a:t>
                      </a:r>
                      <a:endParaRPr sz="1350" b="1" i="0" dirty="0">
                        <a:solidFill>
                          <a:srgbClr val="0F172A"/>
                        </a:solidFill>
                        <a:highlight>
                          <a:srgbClr val="F8FAFC"/>
                        </a:highlight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190500" marR="63500" marT="25400" marB="254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>
                          <a:solidFill>
                            <a:srgbClr val="DC2626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Alto</a:t>
                      </a:r>
                      <a:endParaRPr sz="1350" b="1" i="0">
                        <a:solidFill>
                          <a:srgbClr val="DC2626"/>
                        </a:solidFill>
                        <a:highlight>
                          <a:srgbClr val="F8FAFC"/>
                        </a:highlight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63500" marR="63500" marT="25400" marB="254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Subgrafo paginado y umbral mínimo de afinidad.</a:t>
                      </a:r>
                      <a:endParaRPr sz="1350" b="0" i="0">
                        <a:solidFill>
                          <a:srgbClr val="475569"/>
                        </a:solidFill>
                        <a:highlight>
                          <a:srgbClr val="F8FAFC"/>
                        </a:highlight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63500" marR="63500" marT="25400" marB="254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dirty="0" err="1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Alucinaciones</a:t>
                      </a:r>
                      <a:r>
                        <a:rPr lang="en-US" sz="1350" b="1" i="0" dirty="0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350" b="1" i="0" dirty="0" err="1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en</a:t>
                      </a:r>
                      <a:r>
                        <a:rPr lang="en-US" sz="1350" b="1" i="0" dirty="0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pares </a:t>
                      </a:r>
                      <a:r>
                        <a:rPr lang="en-US" sz="1350" b="1" i="0" dirty="0" err="1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por</a:t>
                      </a:r>
                      <a:r>
                        <a:rPr lang="en-US" sz="1350" b="1" i="0" dirty="0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IA</a:t>
                      </a:r>
                      <a:endParaRPr sz="1350" b="1" i="0" dirty="0">
                        <a:solidFill>
                          <a:srgbClr val="0F172A"/>
                        </a:solidFill>
                        <a:highlight>
                          <a:srgbClr val="F8FAFC"/>
                        </a:highlight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190500" marR="63500" marT="25400" marB="254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>
                          <a:solidFill>
                            <a:srgbClr val="D97706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Medio</a:t>
                      </a:r>
                      <a:endParaRPr sz="1350" b="1" i="0">
                        <a:solidFill>
                          <a:srgbClr val="D97706"/>
                        </a:solidFill>
                        <a:highlight>
                          <a:srgbClr val="F8FAFC"/>
                        </a:highlight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63500" marR="63500" marT="25400" marB="254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Prompting JSON, filtros lógicos y curación manual.</a:t>
                      </a:r>
                      <a:endParaRPr sz="1350" b="0" i="0">
                        <a:solidFill>
                          <a:srgbClr val="475569"/>
                        </a:solidFill>
                        <a:highlight>
                          <a:srgbClr val="F8FAFC"/>
                        </a:highlight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63500" marR="63500" marT="25400" marB="254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dirty="0" err="1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Latencia</a:t>
                      </a:r>
                      <a:r>
                        <a:rPr lang="en-US" sz="1350" b="1" i="0" dirty="0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o corte de </a:t>
                      </a:r>
                      <a:r>
                        <a:rPr lang="en-US" sz="1350" b="1" i="0" dirty="0" err="1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proveedor</a:t>
                      </a:r>
                      <a:r>
                        <a:rPr lang="en-US" sz="1350" b="1" i="0" dirty="0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de IA</a:t>
                      </a:r>
                      <a:endParaRPr sz="1350" b="1" i="0" dirty="0">
                        <a:solidFill>
                          <a:srgbClr val="0F172A"/>
                        </a:solidFill>
                        <a:highlight>
                          <a:srgbClr val="F8FAFC"/>
                        </a:highlight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190500" marR="63500" marT="25400" marB="254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>
                          <a:solidFill>
                            <a:srgbClr val="16A34A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Bajo</a:t>
                      </a:r>
                      <a:endParaRPr sz="1350" b="1" i="0">
                        <a:solidFill>
                          <a:srgbClr val="16A34A"/>
                        </a:solidFill>
                        <a:highlight>
                          <a:srgbClr val="F8FAFC"/>
                        </a:highlight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63500" marR="63500" marT="25400" marB="254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Timeout de 3s y fallback con respuestas cacheadas.</a:t>
                      </a:r>
                      <a:endParaRPr sz="1350" b="0" i="0">
                        <a:solidFill>
                          <a:srgbClr val="475569"/>
                        </a:solidFill>
                        <a:highlight>
                          <a:srgbClr val="F8FAFC"/>
                        </a:highlight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63500" marR="63500" marT="25400" marB="254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dirty="0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Brecha de </a:t>
                      </a:r>
                      <a:r>
                        <a:rPr lang="en-US" sz="1350" b="1" i="0" dirty="0" err="1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comprensión</a:t>
                      </a:r>
                      <a:r>
                        <a:rPr lang="en-US" sz="1350" b="1" i="0" dirty="0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de </a:t>
                      </a:r>
                      <a:r>
                        <a:rPr lang="en-US" sz="1350" b="1" i="0" dirty="0" err="1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código</a:t>
                      </a:r>
                      <a:r>
                        <a:rPr lang="en-US" sz="1350" b="1" i="0" dirty="0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350" b="1" i="0" dirty="0" err="1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asistido</a:t>
                      </a:r>
                      <a:endParaRPr sz="1350" b="1" i="0" dirty="0">
                        <a:solidFill>
                          <a:srgbClr val="0F172A"/>
                        </a:solidFill>
                        <a:highlight>
                          <a:srgbClr val="F8FAFC"/>
                        </a:highlight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190500" marR="63500" marT="25400" marB="254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dirty="0">
                          <a:solidFill>
                            <a:srgbClr val="D97706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Medio</a:t>
                      </a:r>
                      <a:endParaRPr sz="1350" b="1" i="0" dirty="0">
                        <a:solidFill>
                          <a:srgbClr val="D97706"/>
                        </a:solidFill>
                        <a:highlight>
                          <a:srgbClr val="F8FAFC"/>
                        </a:highlight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63500" marR="63500" marT="25400" marB="254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Tiempo de </a:t>
                      </a:r>
                      <a:r>
                        <a:rPr lang="en-US" sz="1350" b="0" i="0" dirty="0" err="1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revisión</a:t>
                      </a:r>
                      <a:r>
                        <a:rPr lang="en-US" sz="1350" b="0" i="0" dirty="0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e </a:t>
                      </a:r>
                      <a:r>
                        <a:rPr lang="en-US" sz="1350" b="0" i="0" dirty="0" err="1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integración</a:t>
                      </a:r>
                      <a:r>
                        <a:rPr lang="en-US" sz="1350" b="0" i="0" dirty="0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350" b="0" i="0" dirty="0" err="1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en</a:t>
                      </a:r>
                      <a:r>
                        <a:rPr lang="en-US" sz="1350" b="0" i="0" dirty="0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350" b="0" i="0" dirty="0" err="1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cada</a:t>
                      </a:r>
                      <a:r>
                        <a:rPr lang="en-US" sz="1350" b="0" i="0" dirty="0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sprint.</a:t>
                      </a:r>
                      <a:endParaRPr sz="1350" b="0" i="0" dirty="0">
                        <a:solidFill>
                          <a:srgbClr val="475569"/>
                        </a:solidFill>
                        <a:highlight>
                          <a:srgbClr val="F8FAFC"/>
                        </a:highlight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63500" marR="63500" marT="25400" marB="254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3"/>
          <p:cNvSpPr/>
          <p:nvPr/>
        </p:nvSpPr>
        <p:spPr>
          <a:xfrm>
            <a:off x="609600" y="3066008"/>
            <a:ext cx="2600325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3400425" y="3066008"/>
            <a:ext cx="2600325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6191250" y="3066008"/>
            <a:ext cx="2600325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8982075" y="3066008"/>
            <a:ext cx="2600325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A580C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PLANIFICACIÓN TEMPORAL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609600" y="781050"/>
            <a:ext cx="11582400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Cronograma del MVP (8 Semanas)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838200" y="3294608"/>
            <a:ext cx="267890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A58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SPRINT 1 (SEM 1-2)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838200" y="3523208"/>
            <a:ext cx="281285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Cimientos y Auth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838200" y="3847058"/>
            <a:ext cx="223837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Docker Compose, esquema DDL y autenticación JWT.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3629025" y="3294608"/>
            <a:ext cx="267890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A58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SPRINT 2 (SEM 3-4)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3629025" y="3523208"/>
            <a:ext cx="281285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Dataset y Spike</a:t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3629025" y="3847058"/>
            <a:ext cx="223837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Pipeline LLM, curación manual y grafo 2D a 60 FPS.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6419850" y="3294608"/>
            <a:ext cx="267890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A58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SPRINT 3 (SEM 5-6)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6419850" y="3523208"/>
            <a:ext cx="281285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Backend Core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6419850" y="3847058"/>
            <a:ext cx="223837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REST API, cálculo de sinergia N×N y favoritos.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9210675" y="3294608"/>
            <a:ext cx="267890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A58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SPRINT 4 (SEM 7-8)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9210675" y="3523208"/>
            <a:ext cx="281285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Frontend y QA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9210675" y="3847058"/>
            <a:ext cx="223837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Las 3 vistas de usuario, tests y defensa final.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4"/>
          <p:cNvSpPr txBox="1"/>
          <p:nvPr/>
        </p:nvSpPr>
        <p:spPr>
          <a:xfrm>
            <a:off x="4796935" y="2566094"/>
            <a:ext cx="25980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B923C"/>
                </a:solidFill>
                <a:latin typeface="Space Grotesk"/>
                <a:ea typeface="Space Grotesk"/>
                <a:cs typeface="Space Grotesk"/>
                <a:sym typeface="Space Grotesk"/>
              </a:rPr>
              <a:t>ANTEPROYECTO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3595687" y="2813744"/>
            <a:ext cx="5000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Mapa de Sabores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2226468" y="3781425"/>
            <a:ext cx="7739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615</Words>
  <Application>Microsoft Office PowerPoint</Application>
  <PresentationFormat>Widescreen</PresentationFormat>
  <Paragraphs>128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Space Grotesk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Diego A Secas</cp:lastModifiedBy>
  <cp:revision>1</cp:revision>
  <dcterms:modified xsi:type="dcterms:W3CDTF">2026-09-22T15:54:00Z</dcterms:modified>
</cp:coreProperties>
</file>